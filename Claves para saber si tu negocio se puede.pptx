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4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D6858-512B-E445-B3F9-D3F47A923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7A99C-CA31-F633-3F15-944E5CCF8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2AEAC-51F5-EFA9-AAEB-EB1D36A66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F14B-11F8-4B0A-85F6-0CF6FF0FCEF2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FED2F-1060-CEB4-FAD6-35E4025CA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A7636-F735-5658-FE51-899CE7D2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ACBC2-E707-46C1-BDCA-9DC5B470A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889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260A8-9520-CE37-6182-AA5DC80B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2FB3C-8C5D-F89C-4AD6-5C2C42131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D9A8F-BFBA-384D-8801-3593FDE2D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F14B-11F8-4B0A-85F6-0CF6FF0FCEF2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71ECF-0DA6-7427-AF95-57ECE50D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DD71C-9032-918F-E9E0-B08D58EFE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ACBC2-E707-46C1-BDCA-9DC5B470A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8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F393-62DF-50E1-EA8A-2CF52C8B6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B70A6-F692-0C8D-2DC0-F42E0732B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CD907-85B1-2758-B1A7-1AEF58B50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F14B-11F8-4B0A-85F6-0CF6FF0FCEF2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FF774-8A3C-0D50-0A78-46E2F1C1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39181-47C6-B353-595E-62DA4CB0E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ACBC2-E707-46C1-BDCA-9DC5B470A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47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84EF7-612A-5A6E-225B-7A6E5A33A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8ADEA-5282-9C1E-D233-24985392F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BBC74-9941-593E-A4D5-A32226A86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0C459-518E-842C-8368-26C48DAC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F14B-11F8-4B0A-85F6-0CF6FF0FCEF2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06430-6B3B-7076-1BF3-78633A075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E1DBA-E031-DF29-E752-3D94575B1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ACBC2-E707-46C1-BDCA-9DC5B470A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65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845D-0FB8-F64C-466A-9511B0B2E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54F85-AD32-D253-61E5-AD0E8A0B4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4EB62-E242-92D0-8BD9-0871BB3BF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E1B02-0BD5-A0AE-3339-B899C76DD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0B2E0D-64C0-C029-FA9B-698D1F8FA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45502D-0FB3-E00D-F677-3C9B5E4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F14B-11F8-4B0A-85F6-0CF6FF0FCEF2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E7C7A-9B82-A9C6-458C-B95B8149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88A51A-73B1-5EF5-9059-4C5D3840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ACBC2-E707-46C1-BDCA-9DC5B470A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264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CE271-ECA7-9228-4BEB-CD08B040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8BBE56-1AC3-280A-5FE1-8EDADD50A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F14B-11F8-4B0A-85F6-0CF6FF0FCEF2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0EFE80-DBBB-D9F5-C48F-019170BE6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44FC5-802B-F4A7-6636-C1511FB1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ACBC2-E707-46C1-BDCA-9DC5B470A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86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66ADE5-CABA-5D05-F005-4AB715AEE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F14B-11F8-4B0A-85F6-0CF6FF0FCEF2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5BAFB-C9C8-5803-705E-9FB495C08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F8CF4-2F48-A226-A91E-6723153B6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ACBC2-E707-46C1-BDCA-9DC5B470A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449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C374-DB2E-EA79-B1D7-125ECA1C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2A7DC-5B98-E041-FC35-E080DF99B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B55C8-7052-5B23-0A6C-9DE617055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054A2-A4A6-4D57-BB67-1E96D18C8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F14B-11F8-4B0A-85F6-0CF6FF0FCEF2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867BA-E3FD-FEFD-F344-15F07B72F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16EE9-5537-0909-D280-54655F21F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ACBC2-E707-46C1-BDCA-9DC5B470A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969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EA8EC-13A3-52F8-92F8-CD1E1CCB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AE116-8014-CC7D-4309-5D41D4E83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62BBB-3930-7092-778F-8C055DA05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BC3CC-4246-9C20-DD66-91E19007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F14B-11F8-4B0A-85F6-0CF6FF0FCEF2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16A26-E39A-051F-25D8-22197C64F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6C378-D22E-8B59-F279-767846266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ACBC2-E707-46C1-BDCA-9DC5B470A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207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EE4D1-A92C-BB4C-29BF-12143C071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4938D-FCC3-5B23-BE8C-FBE6BF895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5B959-1F69-0E46-2F6C-14118B7D0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F14B-11F8-4B0A-85F6-0CF6FF0FCEF2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E9D10-1A0C-792C-FFB7-CF88B8F04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17078-88FF-0EA3-B1B2-99191640A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ACBC2-E707-46C1-BDCA-9DC5B470A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13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CCC973-AC3A-EA63-4A34-0D0BB10D5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39D34-7CA0-B9FE-227D-A1BBA0AB8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9790F-6F3A-3E25-E770-4F3925F2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F14B-11F8-4B0A-85F6-0CF6FF0FCEF2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E65D8-29B2-1B41-D25A-D9854B4CA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95FD9-227A-F5D0-6D34-82AEE308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ACBC2-E707-46C1-BDCA-9DC5B470A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980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61C10-F461-A928-6FE3-CF625415A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54DDA-211B-75D4-3459-3F38448DD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92AE-5561-2F62-AD73-ACA85E31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F14B-11F8-4B0A-85F6-0CF6FF0FCEF2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8F3A7-7302-8A5A-58B6-7777E503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59040-F854-5B36-D561-E6735EBB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ACBC2-E707-46C1-BDCA-9DC5B470A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16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771B-026A-17C8-1BE8-B91AB5D60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19681-5003-13F5-E56F-877C9CBA5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4203C-E4B3-8BFE-7209-5C625897C8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78F14B-11F8-4B0A-85F6-0CF6FF0FCEF2}" type="datetimeFigureOut">
              <a:rPr lang="en-GB" smtClean="0"/>
              <a:t>07/02/2025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F1415-101C-C440-C948-BCB13DD88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41F84-AD4E-0FB2-2EE4-4CEF44A6F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ACBC2-E707-46C1-BDCA-9DC5B470A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089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CCCB6D-5162-4AAE-A5E3-3AC55410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CD8C04-CC7B-40EF-82EB-E9821F79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70" y="2458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etal Sword and shield">
            <a:extLst>
              <a:ext uri="{FF2B5EF4-FFF2-40B4-BE49-F238E27FC236}">
                <a16:creationId xmlns:a16="http://schemas.microsoft.com/office/drawing/2014/main" id="{52061824-29D8-7499-13C5-66F0E31FDB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3586" r="4474"/>
          <a:stretch/>
        </p:blipFill>
        <p:spPr>
          <a:xfrm>
            <a:off x="-170" y="10"/>
            <a:ext cx="8450317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E220E4-0066-8037-E07C-6FC599745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Claves para saber </a:t>
            </a:r>
            <a:r>
              <a:rPr lang="en-US" kern="1200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si</a:t>
            </a:r>
            <a:r>
              <a:rPr lang="en-US" kern="1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tu</a:t>
            </a:r>
            <a:r>
              <a:rPr lang="en-US" kern="1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negocio</a:t>
            </a:r>
            <a:r>
              <a:rPr lang="en-US" kern="1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se </a:t>
            </a:r>
            <a:r>
              <a:rPr lang="en-US" kern="1200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puede</a:t>
            </a:r>
            <a:r>
              <a:rPr lang="en-US" kern="1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beneficiar</a:t>
            </a:r>
            <a:r>
              <a:rPr lang="en-US" kern="1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de la </a:t>
            </a:r>
            <a:r>
              <a:rPr lang="en-US" kern="1200" dirty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inteligencia</a:t>
            </a:r>
            <a:r>
              <a:rPr lang="en-US" kern="1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artificial</a:t>
            </a:r>
          </a:p>
        </p:txBody>
      </p:sp>
      <p:pic>
        <p:nvPicPr>
          <p:cNvPr id="6" name="Picture 5" descr="A group of people wearing virtual reality goggles&#10;&#10;Description automatically generated">
            <a:extLst>
              <a:ext uri="{FF2B5EF4-FFF2-40B4-BE49-F238E27FC236}">
                <a16:creationId xmlns:a16="http://schemas.microsoft.com/office/drawing/2014/main" id="{01187F1C-9A79-1853-E065-13F091A1F7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4" r="4710"/>
          <a:stretch/>
        </p:blipFill>
        <p:spPr>
          <a:xfrm>
            <a:off x="6225997" y="-2458"/>
            <a:ext cx="5962785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794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people in a room with computers&#10;&#10;Description automatically generated">
            <a:extLst>
              <a:ext uri="{FF2B5EF4-FFF2-40B4-BE49-F238E27FC236}">
                <a16:creationId xmlns:a16="http://schemas.microsoft.com/office/drawing/2014/main" id="{3681E993-1DB8-D45F-85AB-073299BFD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33" r="9089" b="1154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B3734-7759-9DF0-AB5E-293183CCF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29" y="2675859"/>
            <a:ext cx="4023360" cy="320413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1" dirty="0" err="1">
                <a:solidFill>
                  <a:srgbClr val="FFC000"/>
                </a:solidFill>
              </a:rPr>
              <a:t>Procesamiento</a:t>
            </a:r>
            <a:r>
              <a:rPr lang="en-US" sz="2800" b="1" dirty="0">
                <a:solidFill>
                  <a:srgbClr val="FFC000"/>
                </a:solidFill>
              </a:rPr>
              <a:t> de Datos</a:t>
            </a:r>
            <a:br>
              <a:rPr lang="en-US" sz="2800" b="1" dirty="0">
                <a:solidFill>
                  <a:srgbClr val="FFC000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Pregunta</a:t>
            </a:r>
            <a:r>
              <a:rPr lang="en-US" sz="2400" dirty="0">
                <a:solidFill>
                  <a:schemeClr val="bg1"/>
                </a:solidFill>
              </a:rPr>
              <a:t>: ¿Tu </a:t>
            </a:r>
            <a:r>
              <a:rPr lang="en-US" sz="2400" dirty="0" err="1">
                <a:solidFill>
                  <a:schemeClr val="bg1"/>
                </a:solidFill>
              </a:rPr>
              <a:t>negocio</a:t>
            </a:r>
            <a:r>
              <a:rPr lang="en-US" sz="2400" dirty="0">
                <a:solidFill>
                  <a:schemeClr val="bg1"/>
                </a:solidFill>
              </a:rPr>
              <a:t> genera o </a:t>
            </a:r>
            <a:r>
              <a:rPr lang="en-US" sz="2400" dirty="0" err="1">
                <a:solidFill>
                  <a:schemeClr val="bg1"/>
                </a:solidFill>
              </a:rPr>
              <a:t>maneja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grandes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volúmenes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datos</a:t>
            </a:r>
            <a:r>
              <a:rPr lang="en-US" sz="2400" dirty="0">
                <a:solidFill>
                  <a:schemeClr val="bg1"/>
                </a:solidFill>
              </a:rPr>
              <a:t>?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Clave</a:t>
            </a:r>
            <a:r>
              <a:rPr lang="en-US" sz="2400" dirty="0">
                <a:solidFill>
                  <a:schemeClr val="bg1"/>
                </a:solidFill>
              </a:rPr>
              <a:t>: La IA </a:t>
            </a:r>
            <a:r>
              <a:rPr lang="en-US" sz="2400" dirty="0" err="1">
                <a:solidFill>
                  <a:schemeClr val="bg1"/>
                </a:solidFill>
              </a:rPr>
              <a:t>puede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analizar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grandes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volúmenes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datos</a:t>
            </a:r>
            <a:r>
              <a:rPr lang="en-US" sz="2400" dirty="0">
                <a:solidFill>
                  <a:schemeClr val="bg1"/>
                </a:solidFill>
              </a:rPr>
              <a:t> para </a:t>
            </a:r>
            <a:r>
              <a:rPr lang="en-US" sz="2400" dirty="0" err="1">
                <a:solidFill>
                  <a:schemeClr val="bg1"/>
                </a:solidFill>
              </a:rPr>
              <a:t>identificar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patrones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tendencias</a:t>
            </a:r>
            <a:r>
              <a:rPr lang="en-US" sz="2400" dirty="0">
                <a:solidFill>
                  <a:schemeClr val="bg1"/>
                </a:solidFill>
              </a:rPr>
              <a:t> que </a:t>
            </a:r>
            <a:r>
              <a:rPr lang="en-US" sz="2400" dirty="0" err="1">
                <a:solidFill>
                  <a:schemeClr val="bg1"/>
                </a:solidFill>
              </a:rPr>
              <a:t>podrían</a:t>
            </a:r>
            <a:r>
              <a:rPr lang="en-US" sz="2400" dirty="0">
                <a:solidFill>
                  <a:schemeClr val="bg1"/>
                </a:solidFill>
              </a:rPr>
              <a:t> pasar </a:t>
            </a:r>
            <a:r>
              <a:rPr lang="en-US" sz="2400" dirty="0" err="1">
                <a:solidFill>
                  <a:schemeClr val="bg1"/>
                </a:solidFill>
              </a:rPr>
              <a:t>desapercibidos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optimizando</a:t>
            </a:r>
            <a:r>
              <a:rPr lang="en-US" sz="2400" dirty="0">
                <a:solidFill>
                  <a:schemeClr val="bg1"/>
                </a:solidFill>
              </a:rPr>
              <a:t> la </a:t>
            </a:r>
            <a:r>
              <a:rPr lang="en-US" sz="2400" dirty="0" err="1">
                <a:solidFill>
                  <a:schemeClr val="bg1"/>
                </a:solidFill>
              </a:rPr>
              <a:t>toma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decisiones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6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sitting at a desk with a computer screen&#10;&#10;Description automatically generated">
            <a:extLst>
              <a:ext uri="{FF2B5EF4-FFF2-40B4-BE49-F238E27FC236}">
                <a16:creationId xmlns:a16="http://schemas.microsoft.com/office/drawing/2014/main" id="{9945F669-9259-83C0-5EF0-8789D0808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1" t="4914" r="-2" b="18068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FDDD1A-178B-3E2B-1F46-C1C3EF67B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2"/>
            <a:ext cx="4249662" cy="4501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 dirty="0" err="1">
                <a:solidFill>
                  <a:srgbClr val="FFC000"/>
                </a:solidFill>
              </a:rPr>
              <a:t>Automatización</a:t>
            </a:r>
            <a:r>
              <a:rPr lang="en-US" sz="2800" b="1" dirty="0">
                <a:solidFill>
                  <a:srgbClr val="FFC000"/>
                </a:solidFill>
              </a:rPr>
              <a:t> de </a:t>
            </a:r>
            <a:r>
              <a:rPr lang="en-US" sz="2800" b="1" dirty="0" err="1">
                <a:solidFill>
                  <a:srgbClr val="FFC000"/>
                </a:solidFill>
              </a:rPr>
              <a:t>Procesos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Pregunta</a:t>
            </a:r>
            <a:r>
              <a:rPr lang="en-US" sz="2400" dirty="0">
                <a:solidFill>
                  <a:schemeClr val="bg1"/>
                </a:solidFill>
              </a:rPr>
              <a:t>: ¿</a:t>
            </a:r>
            <a:r>
              <a:rPr lang="en-US" sz="2400" dirty="0" err="1">
                <a:solidFill>
                  <a:schemeClr val="bg1"/>
                </a:solidFill>
              </a:rPr>
              <a:t>Existen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tareas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repetitivas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rutinarias</a:t>
            </a:r>
            <a:r>
              <a:rPr lang="en-US" sz="2400" dirty="0">
                <a:solidFill>
                  <a:schemeClr val="bg1"/>
                </a:solidFill>
              </a:rPr>
              <a:t> en </a:t>
            </a:r>
            <a:r>
              <a:rPr lang="en-US" sz="2400" dirty="0" err="1">
                <a:solidFill>
                  <a:schemeClr val="bg1"/>
                </a:solidFill>
              </a:rPr>
              <a:t>tu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negocio</a:t>
            </a:r>
            <a:r>
              <a:rPr lang="en-US" sz="2400" dirty="0">
                <a:solidFill>
                  <a:schemeClr val="bg1"/>
                </a:solidFill>
              </a:rPr>
              <a:t>?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Clave</a:t>
            </a:r>
            <a:r>
              <a:rPr lang="en-US" sz="2400" dirty="0">
                <a:solidFill>
                  <a:schemeClr val="bg1"/>
                </a:solidFill>
              </a:rPr>
              <a:t>: La IA </a:t>
            </a:r>
            <a:r>
              <a:rPr lang="en-US" sz="2400" dirty="0" err="1">
                <a:solidFill>
                  <a:schemeClr val="bg1"/>
                </a:solidFill>
              </a:rPr>
              <a:t>puede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automatizar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procesos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repetitivos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reduciendo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errores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permitiendo</a:t>
            </a:r>
            <a:r>
              <a:rPr lang="en-US" sz="2400" dirty="0">
                <a:solidFill>
                  <a:schemeClr val="bg1"/>
                </a:solidFill>
              </a:rPr>
              <a:t> que los </a:t>
            </a:r>
            <a:r>
              <a:rPr lang="en-US" sz="2400" dirty="0" err="1">
                <a:solidFill>
                  <a:schemeClr val="bg1"/>
                </a:solidFill>
              </a:rPr>
              <a:t>empleados</a:t>
            </a:r>
            <a:r>
              <a:rPr lang="en-US" sz="2400" dirty="0">
                <a:solidFill>
                  <a:schemeClr val="bg1"/>
                </a:solidFill>
              </a:rPr>
              <a:t> se </a:t>
            </a:r>
            <a:r>
              <a:rPr lang="en-US" sz="2400" dirty="0" err="1">
                <a:solidFill>
                  <a:schemeClr val="bg1"/>
                </a:solidFill>
              </a:rPr>
              <a:t>enfoquen</a:t>
            </a:r>
            <a:r>
              <a:rPr lang="en-US" sz="2400" dirty="0">
                <a:solidFill>
                  <a:schemeClr val="bg1"/>
                </a:solidFill>
              </a:rPr>
              <a:t> en </a:t>
            </a:r>
            <a:r>
              <a:rPr lang="en-US" sz="2400" dirty="0" err="1">
                <a:solidFill>
                  <a:schemeClr val="bg1"/>
                </a:solidFill>
              </a:rPr>
              <a:t>tareas</a:t>
            </a:r>
            <a:r>
              <a:rPr lang="en-US" sz="2400" dirty="0">
                <a:solidFill>
                  <a:schemeClr val="bg1"/>
                </a:solidFill>
              </a:rPr>
              <a:t> de mayor valor </a:t>
            </a:r>
            <a:r>
              <a:rPr lang="en-US" sz="2400" dirty="0" err="1">
                <a:solidFill>
                  <a:schemeClr val="bg1"/>
                </a:solidFill>
              </a:rPr>
              <a:t>añadido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856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in a suit looking at a robot&#10;&#10;Description automatically generated">
            <a:extLst>
              <a:ext uri="{FF2B5EF4-FFF2-40B4-BE49-F238E27FC236}">
                <a16:creationId xmlns:a16="http://schemas.microsoft.com/office/drawing/2014/main" id="{BAE3848F-D2F4-ED28-7961-989F8C7DE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04" r="9089" b="4473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A0B6D-28AC-7458-ED5F-E237E9D2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2"/>
            <a:ext cx="4023360" cy="428537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100" b="1" dirty="0" err="1">
                <a:solidFill>
                  <a:srgbClr val="FFC000"/>
                </a:solidFill>
              </a:rPr>
              <a:t>Personalización</a:t>
            </a:r>
            <a:r>
              <a:rPr lang="en-US" sz="3100" b="1" dirty="0">
                <a:solidFill>
                  <a:srgbClr val="FFC000"/>
                </a:solidFill>
              </a:rPr>
              <a:t> de Servicios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7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Pregunta</a:t>
            </a:r>
            <a:r>
              <a:rPr lang="en-US" sz="2400" dirty="0">
                <a:solidFill>
                  <a:schemeClr val="bg1"/>
                </a:solidFill>
              </a:rPr>
              <a:t>: ¿Tu </a:t>
            </a:r>
            <a:r>
              <a:rPr lang="en-US" sz="2400" dirty="0" err="1">
                <a:solidFill>
                  <a:schemeClr val="bg1"/>
                </a:solidFill>
              </a:rPr>
              <a:t>negocio</a:t>
            </a:r>
            <a:r>
              <a:rPr lang="en-US" sz="2400" dirty="0">
                <a:solidFill>
                  <a:schemeClr val="bg1"/>
                </a:solidFill>
              </a:rPr>
              <a:t> se beneficia de </a:t>
            </a:r>
            <a:r>
              <a:rPr lang="en-US" sz="2400" dirty="0" err="1">
                <a:solidFill>
                  <a:schemeClr val="bg1"/>
                </a:solidFill>
              </a:rPr>
              <a:t>ofrecer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experiencias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personalizadas</a:t>
            </a:r>
            <a:r>
              <a:rPr lang="en-US" sz="2400" dirty="0">
                <a:solidFill>
                  <a:schemeClr val="bg1"/>
                </a:solidFill>
              </a:rPr>
              <a:t> a los </a:t>
            </a:r>
            <a:r>
              <a:rPr lang="en-US" sz="2400" dirty="0" err="1">
                <a:solidFill>
                  <a:schemeClr val="bg1"/>
                </a:solidFill>
              </a:rPr>
              <a:t>clientes</a:t>
            </a:r>
            <a:r>
              <a:rPr lang="en-US" sz="2400" dirty="0">
                <a:solidFill>
                  <a:schemeClr val="bg1"/>
                </a:solidFill>
              </a:rPr>
              <a:t>?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7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Clave</a:t>
            </a:r>
            <a:r>
              <a:rPr lang="en-US" sz="2400" dirty="0">
                <a:solidFill>
                  <a:schemeClr val="bg1"/>
                </a:solidFill>
              </a:rPr>
              <a:t>: La IA </a:t>
            </a:r>
            <a:r>
              <a:rPr lang="en-US" sz="2400" dirty="0" err="1">
                <a:solidFill>
                  <a:schemeClr val="bg1"/>
                </a:solidFill>
              </a:rPr>
              <a:t>puede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analizar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comportamiento</a:t>
            </a:r>
            <a:r>
              <a:rPr lang="en-US" sz="2400" dirty="0">
                <a:solidFill>
                  <a:schemeClr val="bg1"/>
                </a:solidFill>
              </a:rPr>
              <a:t> de los </a:t>
            </a:r>
            <a:r>
              <a:rPr lang="en-US" sz="2400" dirty="0" err="1">
                <a:solidFill>
                  <a:schemeClr val="bg1"/>
                </a:solidFill>
              </a:rPr>
              <a:t>clientes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personalizar</a:t>
            </a:r>
            <a:r>
              <a:rPr lang="en-US" sz="2400" dirty="0">
                <a:solidFill>
                  <a:schemeClr val="bg1"/>
                </a:solidFill>
              </a:rPr>
              <a:t> sus </a:t>
            </a:r>
            <a:r>
              <a:rPr lang="en-US" sz="2400" dirty="0" err="1">
                <a:solidFill>
                  <a:schemeClr val="bg1"/>
                </a:solidFill>
              </a:rPr>
              <a:t>experiencias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aumentando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satisfacción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lealtad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38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0BCFA508-752C-6606-EA84-08190381DB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89" b="28077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FE6B3-2B55-40FF-AE49-25B3319A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23" y="2944853"/>
            <a:ext cx="4023360" cy="320413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1" dirty="0" err="1">
                <a:solidFill>
                  <a:srgbClr val="FFC000"/>
                </a:solidFill>
              </a:rPr>
              <a:t>Mejora</a:t>
            </a:r>
            <a:r>
              <a:rPr lang="en-US" sz="2800" b="1" dirty="0">
                <a:solidFill>
                  <a:srgbClr val="FFC000"/>
                </a:solidFill>
              </a:rPr>
              <a:t> del Servicio al </a:t>
            </a:r>
            <a:r>
              <a:rPr lang="en-US" sz="2800" b="1" dirty="0" err="1">
                <a:solidFill>
                  <a:srgbClr val="FFC000"/>
                </a:solidFill>
              </a:rPr>
              <a:t>Cliente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Pregunta</a:t>
            </a:r>
            <a:r>
              <a:rPr lang="en-US" sz="2400" dirty="0">
                <a:solidFill>
                  <a:schemeClr val="bg1"/>
                </a:solidFill>
              </a:rPr>
              <a:t>: ¿Tu </a:t>
            </a:r>
            <a:r>
              <a:rPr lang="en-US" sz="2400" dirty="0" err="1">
                <a:solidFill>
                  <a:schemeClr val="bg1"/>
                </a:solidFill>
              </a:rPr>
              <a:t>negocio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recibe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una</a:t>
            </a:r>
            <a:r>
              <a:rPr lang="en-US" sz="2400" dirty="0">
                <a:solidFill>
                  <a:schemeClr val="bg1"/>
                </a:solidFill>
              </a:rPr>
              <a:t> gran </a:t>
            </a:r>
            <a:r>
              <a:rPr lang="en-US" sz="2400" dirty="0" err="1">
                <a:solidFill>
                  <a:schemeClr val="bg1"/>
                </a:solidFill>
              </a:rPr>
              <a:t>cantidad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consultas</a:t>
            </a:r>
            <a:r>
              <a:rPr lang="en-US" sz="2400" dirty="0">
                <a:solidFill>
                  <a:schemeClr val="bg1"/>
                </a:solidFill>
              </a:rPr>
              <a:t> y solicitudes de </a:t>
            </a:r>
            <a:r>
              <a:rPr lang="en-US" sz="2400" dirty="0" err="1">
                <a:solidFill>
                  <a:schemeClr val="bg1"/>
                </a:solidFill>
              </a:rPr>
              <a:t>servicio</a:t>
            </a:r>
            <a:r>
              <a:rPr lang="en-US" sz="2400" dirty="0">
                <a:solidFill>
                  <a:schemeClr val="bg1"/>
                </a:solidFill>
              </a:rPr>
              <a:t> al </a:t>
            </a:r>
            <a:r>
              <a:rPr lang="en-US" sz="2400" dirty="0" err="1">
                <a:solidFill>
                  <a:schemeClr val="bg1"/>
                </a:solidFill>
              </a:rPr>
              <a:t>cliente</a:t>
            </a:r>
            <a:r>
              <a:rPr lang="en-US" sz="2400" dirty="0">
                <a:solidFill>
                  <a:schemeClr val="bg1"/>
                </a:solidFill>
              </a:rPr>
              <a:t>?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Clave</a:t>
            </a:r>
            <a:r>
              <a:rPr lang="en-US" sz="2400" dirty="0">
                <a:solidFill>
                  <a:schemeClr val="bg1"/>
                </a:solidFill>
              </a:rPr>
              <a:t>: Los chatbots y </a:t>
            </a:r>
            <a:r>
              <a:rPr lang="en-US" sz="2400" dirty="0" err="1">
                <a:solidFill>
                  <a:schemeClr val="bg1"/>
                </a:solidFill>
              </a:rPr>
              <a:t>asistentes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virtuales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impulsados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por</a:t>
            </a:r>
            <a:r>
              <a:rPr lang="en-US" sz="2400" dirty="0">
                <a:solidFill>
                  <a:schemeClr val="bg1"/>
                </a:solidFill>
              </a:rPr>
              <a:t> IA </a:t>
            </a:r>
            <a:r>
              <a:rPr lang="en-US" sz="2400" dirty="0" err="1">
                <a:solidFill>
                  <a:schemeClr val="bg1"/>
                </a:solidFill>
              </a:rPr>
              <a:t>pueden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manejar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consultas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comunes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proporcionar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soporte</a:t>
            </a:r>
            <a:r>
              <a:rPr lang="en-US" sz="2400" dirty="0">
                <a:solidFill>
                  <a:schemeClr val="bg1"/>
                </a:solidFill>
              </a:rPr>
              <a:t> 24/7, </a:t>
            </a:r>
            <a:r>
              <a:rPr lang="en-US" sz="2400" dirty="0" err="1">
                <a:solidFill>
                  <a:schemeClr val="bg1"/>
                </a:solidFill>
              </a:rPr>
              <a:t>mejorando</a:t>
            </a:r>
            <a:r>
              <a:rPr lang="en-US" sz="2400" dirty="0">
                <a:solidFill>
                  <a:schemeClr val="bg1"/>
                </a:solidFill>
              </a:rPr>
              <a:t> la </a:t>
            </a:r>
            <a:r>
              <a:rPr lang="en-US" sz="2400" dirty="0" err="1">
                <a:solidFill>
                  <a:schemeClr val="bg1"/>
                </a:solidFill>
              </a:rPr>
              <a:t>eficiencia</a:t>
            </a:r>
            <a:r>
              <a:rPr lang="en-US" sz="2400" dirty="0">
                <a:solidFill>
                  <a:schemeClr val="bg1"/>
                </a:solidFill>
              </a:rPr>
              <a:t> del </a:t>
            </a:r>
            <a:r>
              <a:rPr lang="en-US" sz="2400" dirty="0" err="1">
                <a:solidFill>
                  <a:schemeClr val="bg1"/>
                </a:solidFill>
              </a:rPr>
              <a:t>servicio</a:t>
            </a:r>
            <a:r>
              <a:rPr lang="en-US" sz="2400" dirty="0">
                <a:solidFill>
                  <a:schemeClr val="bg1"/>
                </a:solidFill>
              </a:rPr>
              <a:t> al </a:t>
            </a:r>
            <a:r>
              <a:rPr lang="en-US" sz="2400" dirty="0" err="1">
                <a:solidFill>
                  <a:schemeClr val="bg1"/>
                </a:solidFill>
              </a:rPr>
              <a:t>cliente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6904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72A0AC-3DCE-4672-BCAF-28FEF91F6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6F1C77-EDC9-4C5F-8C1C-62DD46BDA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robot standing in a warehouse&#10;&#10;Description automatically generated">
            <a:extLst>
              <a:ext uri="{FF2B5EF4-FFF2-40B4-BE49-F238E27FC236}">
                <a16:creationId xmlns:a16="http://schemas.microsoft.com/office/drawing/2014/main" id="{1791DFD8-CA4C-CD44-6E3A-BCFA4EE7C6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3" r="1" b="15062"/>
          <a:stretch/>
        </p:blipFill>
        <p:spPr>
          <a:xfrm>
            <a:off x="20" y="10"/>
            <a:ext cx="8450297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784D85-1131-D698-EABC-C3577D1CB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5317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dirty="0" err="1">
                <a:solidFill>
                  <a:srgbClr val="FFC000"/>
                </a:solidFill>
              </a:rPr>
              <a:t>Optimización</a:t>
            </a:r>
            <a:r>
              <a:rPr lang="en-US" sz="2800" b="1" dirty="0">
                <a:solidFill>
                  <a:srgbClr val="FFC000"/>
                </a:solidFill>
              </a:rPr>
              <a:t> de la Cadena de </a:t>
            </a:r>
            <a:r>
              <a:rPr lang="en-US" sz="2800" b="1" dirty="0" err="1">
                <a:solidFill>
                  <a:srgbClr val="FFC000"/>
                </a:solidFill>
              </a:rPr>
              <a:t>Suministro</a:t>
            </a:r>
            <a:b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Pregunta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¿Tu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negocio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depende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una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cadena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suministro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compleja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?</a:t>
            </a:r>
            <a:b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Clave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La IA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puede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optimizar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gestión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inventarios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prever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demanda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mejorar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logística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reduciendo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costos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mejorando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eficiencia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5" name="Picture 4" descr="A group of men in a meeting&#10;&#10;Description automatically generated">
            <a:extLst>
              <a:ext uri="{FF2B5EF4-FFF2-40B4-BE49-F238E27FC236}">
                <a16:creationId xmlns:a16="http://schemas.microsoft.com/office/drawing/2014/main" id="{7D45FE26-76BB-0458-74DB-0AD01798F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3"/>
          <a:stretch/>
        </p:blipFill>
        <p:spPr>
          <a:xfrm>
            <a:off x="6225997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16208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using a computer&#10;&#10;Description automatically generated">
            <a:extLst>
              <a:ext uri="{FF2B5EF4-FFF2-40B4-BE49-F238E27FC236}">
                <a16:creationId xmlns:a16="http://schemas.microsoft.com/office/drawing/2014/main" id="{E586E2BF-2A19-F614-F4CC-3B4E16845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79" r="9089" b="-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33290F-F131-864D-6402-EE7314EEA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09" y="2247320"/>
            <a:ext cx="4023360" cy="320413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1" dirty="0" err="1">
                <a:solidFill>
                  <a:srgbClr val="FFC000"/>
                </a:solidFill>
              </a:rPr>
              <a:t>Análisis</a:t>
            </a:r>
            <a:r>
              <a:rPr lang="en-US" sz="2800" b="1" dirty="0">
                <a:solidFill>
                  <a:srgbClr val="FFC000"/>
                </a:solidFill>
              </a:rPr>
              <a:t> </a:t>
            </a:r>
            <a:r>
              <a:rPr lang="en-US" sz="2800" b="1" dirty="0" err="1">
                <a:solidFill>
                  <a:srgbClr val="FFC000"/>
                </a:solidFill>
              </a:rPr>
              <a:t>Predictivo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Pregunta</a:t>
            </a:r>
            <a:r>
              <a:rPr lang="en-US" sz="2400" dirty="0">
                <a:solidFill>
                  <a:schemeClr val="bg1"/>
                </a:solidFill>
              </a:rPr>
              <a:t>: ¿Tu </a:t>
            </a:r>
            <a:r>
              <a:rPr lang="en-US" sz="2400" dirty="0" err="1">
                <a:solidFill>
                  <a:schemeClr val="bg1"/>
                </a:solidFill>
              </a:rPr>
              <a:t>negocio</a:t>
            </a:r>
            <a:r>
              <a:rPr lang="en-US" sz="2400" dirty="0">
                <a:solidFill>
                  <a:schemeClr val="bg1"/>
                </a:solidFill>
              </a:rPr>
              <a:t> se </a:t>
            </a:r>
            <a:r>
              <a:rPr lang="en-US" sz="2400" dirty="0" err="1">
                <a:solidFill>
                  <a:schemeClr val="bg1"/>
                </a:solidFill>
              </a:rPr>
              <a:t>beneficiaría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prever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tendencias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comportamientos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futuros</a:t>
            </a:r>
            <a:r>
              <a:rPr lang="en-US" sz="2400" dirty="0">
                <a:solidFill>
                  <a:schemeClr val="bg1"/>
                </a:solidFill>
              </a:rPr>
              <a:t>?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Clave</a:t>
            </a:r>
            <a:r>
              <a:rPr lang="en-US" sz="2400" dirty="0">
                <a:solidFill>
                  <a:schemeClr val="bg1"/>
                </a:solidFill>
              </a:rPr>
              <a:t>: La IA </a:t>
            </a:r>
            <a:r>
              <a:rPr lang="en-US" sz="2400" dirty="0" err="1">
                <a:solidFill>
                  <a:schemeClr val="bg1"/>
                </a:solidFill>
              </a:rPr>
              <a:t>puede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utilizar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análisis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predictivo</a:t>
            </a:r>
            <a:r>
              <a:rPr lang="en-US" sz="2400" dirty="0">
                <a:solidFill>
                  <a:schemeClr val="bg1"/>
                </a:solidFill>
              </a:rPr>
              <a:t> para </a:t>
            </a:r>
            <a:r>
              <a:rPr lang="en-US" sz="2400" dirty="0" err="1">
                <a:solidFill>
                  <a:schemeClr val="bg1"/>
                </a:solidFill>
              </a:rPr>
              <a:t>anticipar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tendencias</a:t>
            </a:r>
            <a:r>
              <a:rPr lang="en-US" sz="2400" dirty="0">
                <a:solidFill>
                  <a:schemeClr val="bg1"/>
                </a:solidFill>
              </a:rPr>
              <a:t> del mercado y </a:t>
            </a:r>
            <a:r>
              <a:rPr lang="en-US" sz="2400" dirty="0" err="1">
                <a:solidFill>
                  <a:schemeClr val="bg1"/>
                </a:solidFill>
              </a:rPr>
              <a:t>comportamientos</a:t>
            </a:r>
            <a:r>
              <a:rPr lang="en-US" sz="2400" dirty="0">
                <a:solidFill>
                  <a:schemeClr val="bg1"/>
                </a:solidFill>
              </a:rPr>
              <a:t> del </a:t>
            </a:r>
            <a:r>
              <a:rPr lang="en-US" sz="2400" dirty="0" err="1">
                <a:solidFill>
                  <a:schemeClr val="bg1"/>
                </a:solidFill>
              </a:rPr>
              <a:t>cliente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ayudando</a:t>
            </a:r>
            <a:r>
              <a:rPr lang="en-US" sz="2400" dirty="0">
                <a:solidFill>
                  <a:schemeClr val="bg1"/>
                </a:solidFill>
              </a:rPr>
              <a:t> a </a:t>
            </a:r>
            <a:r>
              <a:rPr lang="en-US" sz="2400" dirty="0" err="1">
                <a:solidFill>
                  <a:schemeClr val="bg1"/>
                </a:solidFill>
              </a:rPr>
              <a:t>planificar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estrategias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efectivas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8169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mputer screen on a desk&#10;&#10;Description automatically generated">
            <a:extLst>
              <a:ext uri="{FF2B5EF4-FFF2-40B4-BE49-F238E27FC236}">
                <a16:creationId xmlns:a16="http://schemas.microsoft.com/office/drawing/2014/main" id="{CE6C6C31-7658-CE03-7A5D-E55206532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55" r="9089" b="582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DE7DD-3F90-6B4B-1366-4F3328295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23" y="2026931"/>
            <a:ext cx="4023360" cy="320413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Seguridad y </a:t>
            </a:r>
            <a:r>
              <a:rPr lang="en-US" sz="2800" b="1" dirty="0" err="1">
                <a:solidFill>
                  <a:srgbClr val="FFC000"/>
                </a:solidFill>
              </a:rPr>
              <a:t>Detección</a:t>
            </a:r>
            <a:r>
              <a:rPr lang="en-US" sz="2800" b="1" dirty="0">
                <a:solidFill>
                  <a:srgbClr val="FFC000"/>
                </a:solidFill>
              </a:rPr>
              <a:t> de </a:t>
            </a:r>
            <a:r>
              <a:rPr lang="en-US" sz="2800" b="1" dirty="0" err="1">
                <a:solidFill>
                  <a:srgbClr val="FFC000"/>
                </a:solidFill>
              </a:rPr>
              <a:t>Fraude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Pregunta</a:t>
            </a:r>
            <a:r>
              <a:rPr lang="en-US" sz="2400" dirty="0">
                <a:solidFill>
                  <a:schemeClr val="bg1"/>
                </a:solidFill>
              </a:rPr>
              <a:t>: ¿La </a:t>
            </a:r>
            <a:r>
              <a:rPr lang="en-US" sz="2400" dirty="0" err="1">
                <a:solidFill>
                  <a:schemeClr val="bg1"/>
                </a:solidFill>
              </a:rPr>
              <a:t>seguridad</a:t>
            </a:r>
            <a:r>
              <a:rPr lang="en-US" sz="2400" dirty="0">
                <a:solidFill>
                  <a:schemeClr val="bg1"/>
                </a:solidFill>
              </a:rPr>
              <a:t> y la </a:t>
            </a:r>
            <a:r>
              <a:rPr lang="en-US" sz="2400" dirty="0" err="1">
                <a:solidFill>
                  <a:schemeClr val="bg1"/>
                </a:solidFill>
              </a:rPr>
              <a:t>prevención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fraude</a:t>
            </a:r>
            <a:r>
              <a:rPr lang="en-US" sz="2400" dirty="0">
                <a:solidFill>
                  <a:schemeClr val="bg1"/>
                </a:solidFill>
              </a:rPr>
              <a:t> son </a:t>
            </a:r>
            <a:r>
              <a:rPr lang="en-US" sz="2400" dirty="0" err="1">
                <a:solidFill>
                  <a:schemeClr val="bg1"/>
                </a:solidFill>
              </a:rPr>
              <a:t>críticas</a:t>
            </a:r>
            <a:r>
              <a:rPr lang="en-US" sz="2400" dirty="0">
                <a:solidFill>
                  <a:schemeClr val="bg1"/>
                </a:solidFill>
              </a:rPr>
              <a:t> para </a:t>
            </a:r>
            <a:r>
              <a:rPr lang="en-US" sz="2400" dirty="0" err="1">
                <a:solidFill>
                  <a:schemeClr val="bg1"/>
                </a:solidFill>
              </a:rPr>
              <a:t>tu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negocio</a:t>
            </a:r>
            <a:r>
              <a:rPr lang="en-US" sz="2400" dirty="0">
                <a:solidFill>
                  <a:schemeClr val="bg1"/>
                </a:solidFill>
              </a:rPr>
              <a:t>?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Clave</a:t>
            </a:r>
            <a:r>
              <a:rPr lang="en-US" sz="2400" dirty="0">
                <a:solidFill>
                  <a:schemeClr val="bg1"/>
                </a:solidFill>
              </a:rPr>
              <a:t>: La IA </a:t>
            </a:r>
            <a:r>
              <a:rPr lang="en-US" sz="2400" dirty="0" err="1">
                <a:solidFill>
                  <a:schemeClr val="bg1"/>
                </a:solidFill>
              </a:rPr>
              <a:t>puede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detectar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patrones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anómalos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posibles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fraudes</a:t>
            </a:r>
            <a:r>
              <a:rPr lang="en-US" sz="2400" dirty="0">
                <a:solidFill>
                  <a:schemeClr val="bg1"/>
                </a:solidFill>
              </a:rPr>
              <a:t> en </a:t>
            </a:r>
            <a:r>
              <a:rPr lang="en-US" sz="2400" dirty="0" err="1">
                <a:solidFill>
                  <a:schemeClr val="bg1"/>
                </a:solidFill>
              </a:rPr>
              <a:t>tiempo</a:t>
            </a:r>
            <a:r>
              <a:rPr lang="en-US" sz="2400" dirty="0">
                <a:solidFill>
                  <a:schemeClr val="bg1"/>
                </a:solidFill>
              </a:rPr>
              <a:t> real, </a:t>
            </a:r>
            <a:r>
              <a:rPr lang="en-US" sz="2400" dirty="0" err="1">
                <a:solidFill>
                  <a:schemeClr val="bg1"/>
                </a:solidFill>
              </a:rPr>
              <a:t>mejorando</a:t>
            </a:r>
            <a:r>
              <a:rPr lang="en-US" sz="2400" dirty="0">
                <a:solidFill>
                  <a:schemeClr val="bg1"/>
                </a:solidFill>
              </a:rPr>
              <a:t> la </a:t>
            </a:r>
            <a:r>
              <a:rPr lang="en-US" sz="2400" dirty="0" err="1">
                <a:solidFill>
                  <a:schemeClr val="bg1"/>
                </a:solidFill>
              </a:rPr>
              <a:t>seguridad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protegiendo</a:t>
            </a:r>
            <a:r>
              <a:rPr lang="en-US" sz="2400" dirty="0">
                <a:solidFill>
                  <a:schemeClr val="bg1"/>
                </a:solidFill>
              </a:rPr>
              <a:t> los </a:t>
            </a:r>
            <a:r>
              <a:rPr lang="en-US" sz="2400" dirty="0" err="1">
                <a:solidFill>
                  <a:schemeClr val="bg1"/>
                </a:solidFill>
              </a:rPr>
              <a:t>activos</a:t>
            </a:r>
            <a:r>
              <a:rPr lang="en-US" sz="2400" dirty="0">
                <a:solidFill>
                  <a:schemeClr val="bg1"/>
                </a:solidFill>
              </a:rPr>
              <a:t> del </a:t>
            </a:r>
            <a:r>
              <a:rPr lang="en-US" sz="2400" dirty="0" err="1">
                <a:solidFill>
                  <a:schemeClr val="bg1"/>
                </a:solidFill>
              </a:rPr>
              <a:t>negocio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53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716D02-F99D-FC90-9459-4ED644DE1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503" y="2925763"/>
            <a:ext cx="4507936" cy="238760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1" dirty="0" err="1">
                <a:solidFill>
                  <a:srgbClr val="FFC000"/>
                </a:solidFill>
              </a:rPr>
              <a:t>Optimización</a:t>
            </a:r>
            <a:r>
              <a:rPr lang="en-US" sz="2800" b="1" dirty="0">
                <a:solidFill>
                  <a:srgbClr val="FFC000"/>
                </a:solidFill>
              </a:rPr>
              <a:t> de Marketing</a:t>
            </a:r>
            <a:b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Pregunta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¿Tu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negocio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invierte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en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campañas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marketing digital?</a:t>
            </a:r>
            <a:b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Clave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La IA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puede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optimizar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campañas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marketing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mediante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análisis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datos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comportamiento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consumidor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mejorando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segmentación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retorno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la </a:t>
            </a:r>
            <a:r>
              <a:rPr lang="en-US" sz="2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inversión</a:t>
            </a: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5" name="Picture 4" descr="A person and person in an office&#10;&#10;Description automatically generated">
            <a:extLst>
              <a:ext uri="{FF2B5EF4-FFF2-40B4-BE49-F238E27FC236}">
                <a16:creationId xmlns:a16="http://schemas.microsoft.com/office/drawing/2014/main" id="{09C64F34-6F4D-F316-8C7E-3E72BBB48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24" b="8553"/>
          <a:stretch/>
        </p:blipFill>
        <p:spPr>
          <a:xfrm>
            <a:off x="126206" y="1242083"/>
            <a:ext cx="6167018" cy="4373834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209925"/>
            <a:ext cx="976312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49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1BD014-5623-4064-BAFE-A5AAAFB3C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35096" y="657544"/>
            <a:ext cx="4843727" cy="5534144"/>
            <a:chOff x="1674895" y="1345036"/>
            <a:chExt cx="5428610" cy="421093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27BC42E-B225-42FA-9AB5-F860C44BB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ECF5D0B-A89A-4902-8D22-AFB1D55AC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7871DA93-90AF-40F3-A1A1-04E166972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88435" y="401247"/>
            <a:ext cx="4860256" cy="566987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678D5-E54F-197E-F8C4-EDCAEAFC1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9875" y="1857812"/>
            <a:ext cx="4203323" cy="359620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2800" b="1" dirty="0">
                <a:solidFill>
                  <a:srgbClr val="FFC000"/>
                </a:solidFill>
              </a:rPr>
              <a:t>Innovación y Desarrollo de </a:t>
            </a:r>
            <a:r>
              <a:rPr lang="en-US" sz="2800" b="1" dirty="0" err="1">
                <a:solidFill>
                  <a:srgbClr val="FFC000"/>
                </a:solidFill>
              </a:rPr>
              <a:t>Productos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Pregunta</a:t>
            </a:r>
            <a:r>
              <a:rPr lang="en-US" sz="2400" dirty="0">
                <a:solidFill>
                  <a:schemeClr val="bg1"/>
                </a:solidFill>
              </a:rPr>
              <a:t>: ¿Tu </a:t>
            </a:r>
            <a:r>
              <a:rPr lang="en-US" sz="2400" dirty="0" err="1">
                <a:solidFill>
                  <a:schemeClr val="bg1"/>
                </a:solidFill>
              </a:rPr>
              <a:t>negocio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está</a:t>
            </a:r>
            <a:r>
              <a:rPr lang="en-US" sz="2400" dirty="0">
                <a:solidFill>
                  <a:schemeClr val="bg1"/>
                </a:solidFill>
              </a:rPr>
              <a:t> en </a:t>
            </a:r>
            <a:r>
              <a:rPr lang="en-US" sz="2400" dirty="0" err="1">
                <a:solidFill>
                  <a:schemeClr val="bg1"/>
                </a:solidFill>
              </a:rPr>
              <a:t>una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industria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altamente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competitiva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donde</a:t>
            </a:r>
            <a:r>
              <a:rPr lang="en-US" sz="2400" dirty="0">
                <a:solidFill>
                  <a:schemeClr val="bg1"/>
                </a:solidFill>
              </a:rPr>
              <a:t> la innovación es clave?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Clave</a:t>
            </a:r>
            <a:r>
              <a:rPr lang="en-US" sz="2400" dirty="0">
                <a:solidFill>
                  <a:schemeClr val="bg1"/>
                </a:solidFill>
              </a:rPr>
              <a:t>: La IA </a:t>
            </a:r>
            <a:r>
              <a:rPr lang="en-US" sz="2400" dirty="0" err="1">
                <a:solidFill>
                  <a:schemeClr val="bg1"/>
                </a:solidFill>
              </a:rPr>
              <a:t>puede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acelerar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</a:t>
            </a:r>
            <a:r>
              <a:rPr lang="en-US" sz="2400" dirty="0">
                <a:solidFill>
                  <a:schemeClr val="bg1"/>
                </a:solidFill>
              </a:rPr>
              <a:t> desarrollo de </a:t>
            </a:r>
            <a:r>
              <a:rPr lang="en-US" sz="2400" dirty="0" err="1">
                <a:solidFill>
                  <a:schemeClr val="bg1"/>
                </a:solidFill>
              </a:rPr>
              <a:t>productos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mediante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análisis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datos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investigación</a:t>
            </a:r>
            <a:r>
              <a:rPr lang="en-US" sz="2400" dirty="0">
                <a:solidFill>
                  <a:schemeClr val="bg1"/>
                </a:solidFill>
              </a:rPr>
              <a:t> y desarrollo, y la </a:t>
            </a:r>
            <a:r>
              <a:rPr lang="en-US" sz="2400" dirty="0" err="1">
                <a:solidFill>
                  <a:schemeClr val="bg1"/>
                </a:solidFill>
              </a:rPr>
              <a:t>identificación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oportunidades</a:t>
            </a:r>
            <a:r>
              <a:rPr lang="en-US" sz="2400" dirty="0">
                <a:solidFill>
                  <a:schemeClr val="bg1"/>
                </a:solidFill>
              </a:rPr>
              <a:t> de innovación.</a:t>
            </a:r>
          </a:p>
        </p:txBody>
      </p: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4191BEC8-9527-46D0-9306-372EA6C1CB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1804"/>
          <a:stretch/>
        </p:blipFill>
        <p:spPr>
          <a:xfrm>
            <a:off x="1291634" y="1148747"/>
            <a:ext cx="4793260" cy="4227387"/>
          </a:xfrm>
          <a:prstGeom prst="rect">
            <a:avLst/>
          </a:prstGeom>
          <a:ln w="28575">
            <a:noFill/>
          </a:ln>
        </p:spPr>
      </p:pic>
      <p:sp>
        <p:nvSpPr>
          <p:cNvPr id="27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0051" y="771024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9" name="Graphic 212">
            <a:extLst>
              <a:ext uri="{FF2B5EF4-FFF2-40B4-BE49-F238E27FC236}">
                <a16:creationId xmlns:a16="http://schemas.microsoft.com/office/drawing/2014/main" id="{70616F44-B954-409D-87BC-C69465EDE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0051" y="771024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512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981608-D865-4AD7-AC34-A2398EA19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512" y="4357092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9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59160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088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5006F82-50D2-401C-BE85-FFEA1C196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034F32-09B4-47B4-B550-1F1CE3D53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281959-4C2A-43BA-8C83-11E748D31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85BD03E-6111-486E-A44E-13DE7D69D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AEAC14A-07C6-4D53-B462-9F09A96B7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EE382AD-4EFB-4F1D-87D8-BBAFF1A14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F9C3030-DD76-46ED-8C3D-5E6B155D7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774AC63-66CE-4E5C-9DAF-71E4E0C04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74276B0-1AE1-4BAA-A117-B59701260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E0F4DB-3B29-3FCF-546A-7518CF2D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52" y="1217433"/>
            <a:ext cx="5867716" cy="3050025"/>
          </a:xfrm>
          <a:noFill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1" dirty="0" err="1">
                <a:solidFill>
                  <a:srgbClr val="FFC000"/>
                </a:solidFill>
              </a:rPr>
              <a:t>Mejora</a:t>
            </a:r>
            <a:r>
              <a:rPr lang="en-US" sz="2800" b="1" dirty="0">
                <a:solidFill>
                  <a:srgbClr val="FFC000"/>
                </a:solidFill>
              </a:rPr>
              <a:t> en la Toma de </a:t>
            </a:r>
            <a:r>
              <a:rPr lang="en-US" sz="2800" b="1" dirty="0" err="1">
                <a:solidFill>
                  <a:srgbClr val="FFC000"/>
                </a:solidFill>
              </a:rPr>
              <a:t>Decisiones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Pregunta</a:t>
            </a:r>
            <a:r>
              <a:rPr lang="en-US" sz="2400" dirty="0">
                <a:solidFill>
                  <a:schemeClr val="bg1"/>
                </a:solidFill>
              </a:rPr>
              <a:t>: ¿Tu </a:t>
            </a:r>
            <a:r>
              <a:rPr lang="en-US" sz="2400" dirty="0" err="1">
                <a:solidFill>
                  <a:schemeClr val="bg1"/>
                </a:solidFill>
              </a:rPr>
              <a:t>negocio</a:t>
            </a:r>
            <a:r>
              <a:rPr lang="en-US" sz="2400" dirty="0">
                <a:solidFill>
                  <a:schemeClr val="bg1"/>
                </a:solidFill>
              </a:rPr>
              <a:t> se </a:t>
            </a:r>
            <a:r>
              <a:rPr lang="en-US" sz="2400" dirty="0" err="1">
                <a:solidFill>
                  <a:schemeClr val="bg1"/>
                </a:solidFill>
              </a:rPr>
              <a:t>enfrenta</a:t>
            </a:r>
            <a:r>
              <a:rPr lang="en-US" sz="2400" dirty="0">
                <a:solidFill>
                  <a:schemeClr val="bg1"/>
                </a:solidFill>
              </a:rPr>
              <a:t> a </a:t>
            </a:r>
            <a:r>
              <a:rPr lang="en-US" sz="2400" dirty="0" err="1">
                <a:solidFill>
                  <a:schemeClr val="bg1"/>
                </a:solidFill>
              </a:rPr>
              <a:t>decisiones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complejas</a:t>
            </a:r>
            <a:r>
              <a:rPr lang="en-US" sz="2400" dirty="0">
                <a:solidFill>
                  <a:schemeClr val="bg1"/>
                </a:solidFill>
              </a:rPr>
              <a:t> con </a:t>
            </a:r>
            <a:r>
              <a:rPr lang="en-US" sz="2400" dirty="0" err="1">
                <a:solidFill>
                  <a:schemeClr val="bg1"/>
                </a:solidFill>
              </a:rPr>
              <a:t>múltiples</a:t>
            </a:r>
            <a:r>
              <a:rPr lang="en-US" sz="2400" dirty="0">
                <a:solidFill>
                  <a:schemeClr val="bg1"/>
                </a:solidFill>
              </a:rPr>
              <a:t> variables?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Clave</a:t>
            </a:r>
            <a:r>
              <a:rPr lang="en-US" sz="2400" dirty="0">
                <a:solidFill>
                  <a:schemeClr val="bg1"/>
                </a:solidFill>
              </a:rPr>
              <a:t>: La IA </a:t>
            </a:r>
            <a:r>
              <a:rPr lang="en-US" sz="2400" dirty="0" err="1">
                <a:solidFill>
                  <a:schemeClr val="bg1"/>
                </a:solidFill>
              </a:rPr>
              <a:t>puede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proporcionar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análisis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detallados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recomendaciones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basadas</a:t>
            </a:r>
            <a:r>
              <a:rPr lang="en-US" sz="2400" dirty="0">
                <a:solidFill>
                  <a:schemeClr val="bg1"/>
                </a:solidFill>
              </a:rPr>
              <a:t> en </a:t>
            </a:r>
            <a:r>
              <a:rPr lang="en-US" sz="2400" dirty="0" err="1">
                <a:solidFill>
                  <a:schemeClr val="bg1"/>
                </a:solidFill>
              </a:rPr>
              <a:t>datos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apoyando</a:t>
            </a:r>
            <a:r>
              <a:rPr lang="en-US" sz="2400" dirty="0">
                <a:solidFill>
                  <a:schemeClr val="bg1"/>
                </a:solidFill>
              </a:rPr>
              <a:t> a los </a:t>
            </a:r>
            <a:r>
              <a:rPr lang="en-US" sz="2400" dirty="0" err="1">
                <a:solidFill>
                  <a:schemeClr val="bg1"/>
                </a:solidFill>
              </a:rPr>
              <a:t>líderes</a:t>
            </a:r>
            <a:r>
              <a:rPr lang="en-US" sz="2400" dirty="0">
                <a:solidFill>
                  <a:schemeClr val="bg1"/>
                </a:solidFill>
              </a:rPr>
              <a:t> en la </a:t>
            </a:r>
            <a:r>
              <a:rPr lang="en-US" sz="2400" dirty="0" err="1">
                <a:solidFill>
                  <a:schemeClr val="bg1"/>
                </a:solidFill>
              </a:rPr>
              <a:t>toma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decisiones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informadas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CECCE4-3046-4A76-B4C0-767A625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6F309B0-04E5-4883-9605-1364452C6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11AE0B5-579B-4455-9159-4E4F0A8CCE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011DD2-D339-42A2-B916-5E9494D4A4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43332E-2051-4B76-BC37-83CA62919D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B80359C-87A2-4B25-838D-8F833616F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96F20E2-F42F-4B71-8BC5-478533FE1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4039184-A11C-46AE-854D-8B2294436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D2F1956-BECA-4651-82AD-00D7D7F59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3F1C39C-42B5-430D-84F0-7018DD01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A7D71D2-799A-4C6D-AD0E-D7BCF15E9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C9B72C0-DA11-4A2F-BADC-5BD946CFD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F0C6032C-FA1C-FEC0-BD2C-750B5C9DC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6" r="10879" b="2"/>
          <a:stretch/>
        </p:blipFill>
        <p:spPr>
          <a:xfrm>
            <a:off x="695408" y="706170"/>
            <a:ext cx="4024499" cy="5431517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219C598-7B69-490E-97B6-4E4DC4964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62055" y="850149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F504F69-53C8-4088-9C6A-56FFDA331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5EDE870-C63A-4D06-A144-9652B7D895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CB714C2-8F44-4A42-BA66-2516AFA81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844F522-4E10-42B1-840D-5959A9639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9554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room with computers and robots&#10;&#10;Description automatically generated">
            <a:extLst>
              <a:ext uri="{FF2B5EF4-FFF2-40B4-BE49-F238E27FC236}">
                <a16:creationId xmlns:a16="http://schemas.microsoft.com/office/drawing/2014/main" id="{FB4F99D9-6913-99D2-2D32-EF257E640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52" b="8725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tx1"/>
              </a:gs>
              <a:gs pos="35000">
                <a:schemeClr val="tx1">
                  <a:alpha val="77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E29931-2093-FC14-280A-AB346ED14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1" dirty="0" err="1">
                <a:solidFill>
                  <a:srgbClr val="FFC000"/>
                </a:solidFill>
              </a:rPr>
              <a:t>Presión</a:t>
            </a:r>
            <a:r>
              <a:rPr lang="en-US" sz="2800" b="1" dirty="0">
                <a:solidFill>
                  <a:srgbClr val="FFC000"/>
                </a:solidFill>
              </a:rPr>
              <a:t> </a:t>
            </a:r>
            <a:r>
              <a:rPr lang="en-US" sz="2800" b="1" dirty="0" err="1">
                <a:solidFill>
                  <a:srgbClr val="FFC000"/>
                </a:solidFill>
              </a:rPr>
              <a:t>competitiva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Pregunta</a:t>
            </a:r>
            <a:r>
              <a:rPr lang="en-US" sz="2400" dirty="0">
                <a:solidFill>
                  <a:schemeClr val="bg1"/>
                </a:solidFill>
              </a:rPr>
              <a:t>: ¿Tus </a:t>
            </a:r>
            <a:r>
              <a:rPr lang="en-US" sz="2400" dirty="0" err="1">
                <a:solidFill>
                  <a:schemeClr val="bg1"/>
                </a:solidFill>
              </a:rPr>
              <a:t>competidores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están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usando</a:t>
            </a:r>
            <a:r>
              <a:rPr lang="en-US" sz="2400" dirty="0">
                <a:solidFill>
                  <a:schemeClr val="bg1"/>
                </a:solidFill>
              </a:rPr>
              <a:t> la IA?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Clave</a:t>
            </a:r>
            <a:r>
              <a:rPr lang="en-US" sz="2400" dirty="0">
                <a:solidFill>
                  <a:schemeClr val="bg1"/>
                </a:solidFill>
              </a:rPr>
              <a:t>: Si </a:t>
            </a:r>
            <a:r>
              <a:rPr lang="en-US" sz="2400" dirty="0" err="1">
                <a:solidFill>
                  <a:schemeClr val="bg1"/>
                </a:solidFill>
              </a:rPr>
              <a:t>tus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competidores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están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utilizando</a:t>
            </a:r>
            <a:r>
              <a:rPr lang="en-US" sz="2400" dirty="0">
                <a:solidFill>
                  <a:schemeClr val="bg1"/>
                </a:solidFill>
              </a:rPr>
              <a:t> la IA para </a:t>
            </a:r>
            <a:r>
              <a:rPr lang="en-US" sz="2400" dirty="0" err="1">
                <a:solidFill>
                  <a:schemeClr val="bg1"/>
                </a:solidFill>
              </a:rPr>
              <a:t>mejorar</a:t>
            </a:r>
            <a:r>
              <a:rPr lang="en-US" sz="2400" dirty="0">
                <a:solidFill>
                  <a:schemeClr val="bg1"/>
                </a:solidFill>
              </a:rPr>
              <a:t> sus </a:t>
            </a:r>
            <a:r>
              <a:rPr lang="en-US" sz="2400" dirty="0" err="1">
                <a:solidFill>
                  <a:schemeClr val="bg1"/>
                </a:solidFill>
              </a:rPr>
              <a:t>negocios</a:t>
            </a:r>
            <a:r>
              <a:rPr lang="en-US" sz="2400" dirty="0">
                <a:solidFill>
                  <a:schemeClr val="bg1"/>
                </a:solidFill>
              </a:rPr>
              <a:t>, es probable que </a:t>
            </a:r>
            <a:r>
              <a:rPr lang="en-US" sz="2400" dirty="0" err="1">
                <a:solidFill>
                  <a:schemeClr val="bg1"/>
                </a:solidFill>
              </a:rPr>
              <a:t>necesites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considerar</a:t>
            </a:r>
            <a:r>
              <a:rPr lang="en-US" sz="2400" dirty="0">
                <a:solidFill>
                  <a:schemeClr val="bg1"/>
                </a:solidFill>
              </a:rPr>
              <a:t> la IA para </a:t>
            </a:r>
            <a:r>
              <a:rPr lang="en-US" sz="2400" dirty="0" err="1">
                <a:solidFill>
                  <a:schemeClr val="bg1"/>
                </a:solidFill>
              </a:rPr>
              <a:t>mantenerte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competitivo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62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5006F82-50D2-401C-BE85-FFEA1C196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034F32-09B4-47B4-B550-1F1CE3D53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281959-4C2A-43BA-8C83-11E748D31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85BD03E-6111-486E-A44E-13DE7D69D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AEAC14A-07C6-4D53-B462-9F09A96B7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EE382AD-4EFB-4F1D-87D8-BBAFF1A14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F9C3030-DD76-46ED-8C3D-5E6B155D7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774AC63-66CE-4E5C-9DAF-71E4E0C04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74276B0-1AE1-4BAA-A117-B59701260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2A4051-9BD3-0A2D-3083-EF6518A81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621" y="2747124"/>
            <a:ext cx="5030566" cy="3050025"/>
          </a:xfrm>
          <a:noFill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1" dirty="0" err="1">
                <a:solidFill>
                  <a:srgbClr val="FFC000"/>
                </a:solidFill>
              </a:rPr>
              <a:t>Cumplimiento</a:t>
            </a:r>
            <a:r>
              <a:rPr lang="en-US" sz="2800" b="1" dirty="0">
                <a:solidFill>
                  <a:srgbClr val="FFC000"/>
                </a:solidFill>
              </a:rPr>
              <a:t> </a:t>
            </a:r>
            <a:r>
              <a:rPr lang="en-US" sz="2800" b="1" dirty="0" err="1">
                <a:solidFill>
                  <a:srgbClr val="FFC000"/>
                </a:solidFill>
              </a:rPr>
              <a:t>Normativo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Pregunta</a:t>
            </a:r>
            <a:r>
              <a:rPr lang="en-US" sz="2400" dirty="0">
                <a:solidFill>
                  <a:schemeClr val="bg1"/>
                </a:solidFill>
              </a:rPr>
              <a:t>: ¿</a:t>
            </a:r>
            <a:r>
              <a:rPr lang="en-US" sz="2400" dirty="0" err="1">
                <a:solidFill>
                  <a:schemeClr val="bg1"/>
                </a:solidFill>
              </a:rPr>
              <a:t>Necesitas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cumplir</a:t>
            </a:r>
            <a:r>
              <a:rPr lang="en-US" sz="2400" dirty="0">
                <a:solidFill>
                  <a:schemeClr val="bg1"/>
                </a:solidFill>
              </a:rPr>
              <a:t> con </a:t>
            </a:r>
            <a:r>
              <a:rPr lang="en-US" sz="2400" dirty="0" err="1">
                <a:solidFill>
                  <a:schemeClr val="bg1"/>
                </a:solidFill>
              </a:rPr>
              <a:t>regulaciones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normas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específicas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tu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industria</a:t>
            </a:r>
            <a:r>
              <a:rPr lang="en-US" sz="2400" dirty="0">
                <a:solidFill>
                  <a:schemeClr val="bg1"/>
                </a:solidFill>
              </a:rPr>
              <a:t>?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Clave</a:t>
            </a:r>
            <a:r>
              <a:rPr lang="en-US" sz="2400" dirty="0">
                <a:solidFill>
                  <a:schemeClr val="bg1"/>
                </a:solidFill>
              </a:rPr>
              <a:t>: La IA </a:t>
            </a:r>
            <a:r>
              <a:rPr lang="en-US" sz="2400" dirty="0" err="1">
                <a:solidFill>
                  <a:schemeClr val="bg1"/>
                </a:solidFill>
              </a:rPr>
              <a:t>puede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ayudar</a:t>
            </a:r>
            <a:r>
              <a:rPr lang="en-US" sz="2400" dirty="0">
                <a:solidFill>
                  <a:schemeClr val="bg1"/>
                </a:solidFill>
              </a:rPr>
              <a:t> a </a:t>
            </a:r>
            <a:r>
              <a:rPr lang="en-US" sz="2400" dirty="0" err="1">
                <a:solidFill>
                  <a:schemeClr val="bg1"/>
                </a:solidFill>
              </a:rPr>
              <a:t>automatizar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proceso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monitoreo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reporte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cumplimiento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normativo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reduciendo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tiempo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el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esfuerzo</a:t>
            </a:r>
            <a:r>
              <a:rPr lang="en-US" sz="2400" dirty="0">
                <a:solidFill>
                  <a:schemeClr val="bg1"/>
                </a:solidFill>
              </a:rPr>
              <a:t> manual </a:t>
            </a:r>
            <a:r>
              <a:rPr lang="en-US" sz="2400" dirty="0" err="1">
                <a:solidFill>
                  <a:schemeClr val="bg1"/>
                </a:solidFill>
              </a:rPr>
              <a:t>requerido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reducir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riesgo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incumplimiento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normativo</a:t>
            </a:r>
            <a:r>
              <a:rPr lang="en-US" sz="2400" dirty="0">
                <a:solidFill>
                  <a:schemeClr val="bg1"/>
                </a:solidFill>
              </a:rPr>
              <a:t> al </a:t>
            </a:r>
            <a:r>
              <a:rPr lang="en-US" sz="2400" dirty="0" err="1">
                <a:solidFill>
                  <a:schemeClr val="bg1"/>
                </a:solidFill>
              </a:rPr>
              <a:t>proporcionar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alertas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tempranas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recomendaciones</a:t>
            </a:r>
            <a:r>
              <a:rPr lang="en-US" sz="2400" dirty="0">
                <a:solidFill>
                  <a:schemeClr val="bg1"/>
                </a:solidFill>
              </a:rPr>
              <a:t> para </a:t>
            </a:r>
            <a:r>
              <a:rPr lang="en-US" sz="2400" dirty="0" err="1">
                <a:solidFill>
                  <a:schemeClr val="bg1"/>
                </a:solidFill>
              </a:rPr>
              <a:t>corregir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posibles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problemas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CECCE4-3046-4A76-B4C0-767A625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6F309B0-04E5-4883-9605-1364452C6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11AE0B5-579B-4455-9159-4E4F0A8CCE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011DD2-D339-42A2-B916-5E9494D4A4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43332E-2051-4B76-BC37-83CA62919D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B80359C-87A2-4B25-838D-8F833616F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96F20E2-F42F-4B71-8BC5-478533FE1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4039184-A11C-46AE-854D-8B2294436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D2F1956-BECA-4651-82AD-00D7D7F59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3F1C39C-42B5-430D-84F0-7018DD01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A7D71D2-799A-4C6D-AD0E-D7BCF15E9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C9B72C0-DA11-4A2F-BADC-5BD946CFD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room with many screens&#10;&#10;Description automatically generated with medium confidence">
            <a:extLst>
              <a:ext uri="{FF2B5EF4-FFF2-40B4-BE49-F238E27FC236}">
                <a16:creationId xmlns:a16="http://schemas.microsoft.com/office/drawing/2014/main" id="{7B93684A-E0D0-A7EB-B982-5EF013EB1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1" r="17034" b="2"/>
          <a:stretch/>
        </p:blipFill>
        <p:spPr>
          <a:xfrm>
            <a:off x="695408" y="706170"/>
            <a:ext cx="4997469" cy="5431517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219C598-7B69-490E-97B6-4E4DC4964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62055" y="850149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F504F69-53C8-4088-9C6A-56FFDA331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5EDE870-C63A-4D06-A144-9652B7D895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CB714C2-8F44-4A42-BA66-2516AFA81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844F522-4E10-42B1-840D-5959A9639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44671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E2675D31-AEB0-C956-CCEF-0621A1C87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4" b="24663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tx1"/>
              </a:gs>
              <a:gs pos="35000">
                <a:schemeClr val="tx1">
                  <a:alpha val="77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678CA-0F4F-6312-841B-D6E7EC42E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802" y="1582986"/>
            <a:ext cx="3973385" cy="3692028"/>
          </a:xfrm>
          <a:noFill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Gestión del Talento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Pregunta</a:t>
            </a:r>
            <a:r>
              <a:rPr lang="en-US" sz="2400" dirty="0">
                <a:solidFill>
                  <a:schemeClr val="bg1"/>
                </a:solidFill>
              </a:rPr>
              <a:t>: ¿</a:t>
            </a:r>
            <a:r>
              <a:rPr lang="en-US" sz="2400" dirty="0" err="1">
                <a:solidFill>
                  <a:schemeClr val="bg1"/>
                </a:solidFill>
              </a:rPr>
              <a:t>Tienes</a:t>
            </a:r>
            <a:r>
              <a:rPr lang="en-US" sz="2400" dirty="0">
                <a:solidFill>
                  <a:schemeClr val="bg1"/>
                </a:solidFill>
              </a:rPr>
              <a:t> que </a:t>
            </a:r>
            <a:r>
              <a:rPr lang="en-US" sz="2400" dirty="0" err="1">
                <a:solidFill>
                  <a:schemeClr val="bg1"/>
                </a:solidFill>
              </a:rPr>
              <a:t>seleccionar</a:t>
            </a:r>
            <a:r>
              <a:rPr lang="en-US" sz="2400" dirty="0">
                <a:solidFill>
                  <a:schemeClr val="bg1"/>
                </a:solidFill>
              </a:rPr>
              <a:t> personal </a:t>
            </a:r>
            <a:r>
              <a:rPr lang="en-US" sz="2400" dirty="0" err="1">
                <a:solidFill>
                  <a:schemeClr val="bg1"/>
                </a:solidFill>
              </a:rPr>
              <a:t>altamente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calificado</a:t>
            </a:r>
            <a:r>
              <a:rPr lang="en-US" sz="2400" dirty="0">
                <a:solidFill>
                  <a:schemeClr val="bg1"/>
                </a:solidFill>
              </a:rPr>
              <a:t> de forma </a:t>
            </a:r>
            <a:r>
              <a:rPr lang="en-US" sz="2400" dirty="0" err="1">
                <a:solidFill>
                  <a:schemeClr val="bg1"/>
                </a:solidFill>
              </a:rPr>
              <a:t>rápida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precisa</a:t>
            </a:r>
            <a:r>
              <a:rPr lang="en-US" sz="2400" dirty="0">
                <a:solidFill>
                  <a:schemeClr val="bg1"/>
                </a:solidFill>
              </a:rPr>
              <a:t>?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Clave</a:t>
            </a:r>
            <a:r>
              <a:rPr lang="en-US" sz="2400" dirty="0">
                <a:solidFill>
                  <a:schemeClr val="bg1"/>
                </a:solidFill>
              </a:rPr>
              <a:t>: La IA </a:t>
            </a:r>
            <a:r>
              <a:rPr lang="en-US" sz="2400" dirty="0" err="1">
                <a:solidFill>
                  <a:schemeClr val="bg1"/>
                </a:solidFill>
              </a:rPr>
              <a:t>puede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optimizar</a:t>
            </a:r>
            <a:r>
              <a:rPr lang="en-US" sz="2400" dirty="0">
                <a:solidFill>
                  <a:schemeClr val="bg1"/>
                </a:solidFill>
              </a:rPr>
              <a:t> la </a:t>
            </a:r>
            <a:r>
              <a:rPr lang="en-US" sz="2400" dirty="0" err="1">
                <a:solidFill>
                  <a:schemeClr val="bg1"/>
                </a:solidFill>
              </a:rPr>
              <a:t>selección</a:t>
            </a:r>
            <a:r>
              <a:rPr lang="en-US" sz="2400" dirty="0">
                <a:solidFill>
                  <a:schemeClr val="bg1"/>
                </a:solidFill>
              </a:rPr>
              <a:t> de personal, </a:t>
            </a:r>
            <a:r>
              <a:rPr lang="en-US" sz="2400" dirty="0" err="1">
                <a:solidFill>
                  <a:schemeClr val="bg1"/>
                </a:solidFill>
              </a:rPr>
              <a:t>analizar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rendimiento</a:t>
            </a:r>
            <a:r>
              <a:rPr lang="en-US" sz="2400" dirty="0">
                <a:solidFill>
                  <a:schemeClr val="bg1"/>
                </a:solidFill>
              </a:rPr>
              <a:t> de los </a:t>
            </a:r>
            <a:r>
              <a:rPr lang="en-US" sz="2400" dirty="0" err="1">
                <a:solidFill>
                  <a:schemeClr val="bg1"/>
                </a:solidFill>
              </a:rPr>
              <a:t>empleados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mejorar</a:t>
            </a:r>
            <a:r>
              <a:rPr lang="en-US" sz="2400" dirty="0">
                <a:solidFill>
                  <a:schemeClr val="bg1"/>
                </a:solidFill>
              </a:rPr>
              <a:t> la </a:t>
            </a:r>
            <a:r>
              <a:rPr lang="en-US" sz="2400" dirty="0" err="1">
                <a:solidFill>
                  <a:schemeClr val="bg1"/>
                </a:solidFill>
              </a:rPr>
              <a:t>gestión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recursos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humanos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46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looking at a large screen&#10;&#10;Description automatically generated">
            <a:extLst>
              <a:ext uri="{FF2B5EF4-FFF2-40B4-BE49-F238E27FC236}">
                <a16:creationId xmlns:a16="http://schemas.microsoft.com/office/drawing/2014/main" id="{143D650E-D85F-47A9-3C5F-6C4147F44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45" r="9089" b="413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743D3-D9FD-F31D-61C1-CDE5872F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23" y="2076092"/>
            <a:ext cx="4023360" cy="320413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Generación </a:t>
            </a:r>
            <a:r>
              <a:rPr lang="en-US" sz="2800" b="1" dirty="0" err="1">
                <a:solidFill>
                  <a:srgbClr val="FFC000"/>
                </a:solidFill>
              </a:rPr>
              <a:t>Automática</a:t>
            </a:r>
            <a:r>
              <a:rPr lang="en-US" sz="2800" b="1" dirty="0">
                <a:solidFill>
                  <a:srgbClr val="FFC000"/>
                </a:solidFill>
              </a:rPr>
              <a:t> de </a:t>
            </a:r>
            <a:r>
              <a:rPr lang="en-US" sz="2800" b="1" dirty="0" err="1">
                <a:solidFill>
                  <a:srgbClr val="FFC000"/>
                </a:solidFill>
              </a:rPr>
              <a:t>Materiales</a:t>
            </a:r>
            <a:r>
              <a:rPr lang="en-US" sz="2800" b="1" dirty="0">
                <a:solidFill>
                  <a:srgbClr val="FFC000"/>
                </a:solidFill>
              </a:rPr>
              <a:t> </a:t>
            </a:r>
            <a:r>
              <a:rPr lang="en-US" sz="2800" b="1" dirty="0" err="1">
                <a:solidFill>
                  <a:srgbClr val="FFC000"/>
                </a:solidFill>
              </a:rPr>
              <a:t>Audiovisuales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Pregunta</a:t>
            </a:r>
            <a:r>
              <a:rPr lang="en-US" sz="2400" dirty="0">
                <a:solidFill>
                  <a:schemeClr val="bg1"/>
                </a:solidFill>
              </a:rPr>
              <a:t>: ¿</a:t>
            </a:r>
            <a:r>
              <a:rPr lang="en-US" sz="2400" dirty="0" err="1">
                <a:solidFill>
                  <a:schemeClr val="bg1"/>
                </a:solidFill>
              </a:rPr>
              <a:t>Trabajas</a:t>
            </a:r>
            <a:r>
              <a:rPr lang="en-US" sz="2400" dirty="0">
                <a:solidFill>
                  <a:schemeClr val="bg1"/>
                </a:solidFill>
              </a:rPr>
              <a:t> con </a:t>
            </a:r>
            <a:r>
              <a:rPr lang="en-US" sz="2400" dirty="0" err="1">
                <a:solidFill>
                  <a:schemeClr val="bg1"/>
                </a:solidFill>
              </a:rPr>
              <a:t>imágenes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voz</a:t>
            </a:r>
            <a:r>
              <a:rPr lang="en-US" sz="2400" dirty="0">
                <a:solidFill>
                  <a:schemeClr val="bg1"/>
                </a:solidFill>
              </a:rPr>
              <a:t> o </a:t>
            </a:r>
            <a:r>
              <a:rPr lang="en-US" sz="2400" dirty="0" err="1">
                <a:solidFill>
                  <a:schemeClr val="bg1"/>
                </a:solidFill>
              </a:rPr>
              <a:t>texto</a:t>
            </a:r>
            <a:r>
              <a:rPr lang="en-US" sz="2400" dirty="0">
                <a:solidFill>
                  <a:schemeClr val="bg1"/>
                </a:solidFill>
              </a:rPr>
              <a:t>?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Clave</a:t>
            </a:r>
            <a:r>
              <a:rPr lang="en-US" sz="2400" dirty="0">
                <a:solidFill>
                  <a:schemeClr val="bg1"/>
                </a:solidFill>
              </a:rPr>
              <a:t>: Si </a:t>
            </a:r>
            <a:r>
              <a:rPr lang="en-US" sz="2400" dirty="0" err="1">
                <a:solidFill>
                  <a:schemeClr val="bg1"/>
                </a:solidFill>
              </a:rPr>
              <a:t>tu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empresa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maneja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documentos</a:t>
            </a:r>
            <a:r>
              <a:rPr lang="en-US" sz="2400" dirty="0">
                <a:solidFill>
                  <a:schemeClr val="bg1"/>
                </a:solidFill>
              </a:rPr>
              <a:t>, videos o audios, la IA </a:t>
            </a:r>
            <a:r>
              <a:rPr lang="en-US" sz="2400" dirty="0" err="1">
                <a:solidFill>
                  <a:schemeClr val="bg1"/>
                </a:solidFill>
              </a:rPr>
              <a:t>puede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ayudarte</a:t>
            </a:r>
            <a:r>
              <a:rPr lang="en-US" sz="2400" dirty="0">
                <a:solidFill>
                  <a:schemeClr val="bg1"/>
                </a:solidFill>
              </a:rPr>
              <a:t> con </a:t>
            </a:r>
            <a:r>
              <a:rPr lang="en-US" sz="2400" dirty="0" err="1">
                <a:solidFill>
                  <a:schemeClr val="bg1"/>
                </a:solidFill>
              </a:rPr>
              <a:t>reconocimiento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imágenes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análisis</a:t>
            </a:r>
            <a:r>
              <a:rPr lang="en-US" sz="2400" dirty="0">
                <a:solidFill>
                  <a:schemeClr val="bg1"/>
                </a:solidFill>
              </a:rPr>
              <a:t> de </a:t>
            </a:r>
            <a:r>
              <a:rPr lang="en-US" sz="2400" dirty="0" err="1">
                <a:solidFill>
                  <a:schemeClr val="bg1"/>
                </a:solidFill>
              </a:rPr>
              <a:t>textos</a:t>
            </a:r>
            <a:r>
              <a:rPr lang="en-US" sz="2400" dirty="0">
                <a:solidFill>
                  <a:schemeClr val="bg1"/>
                </a:solidFill>
              </a:rPr>
              <a:t> y </a:t>
            </a:r>
            <a:r>
              <a:rPr lang="en-US" sz="2400" dirty="0" err="1">
                <a:solidFill>
                  <a:schemeClr val="bg1"/>
                </a:solidFill>
              </a:rPr>
              <a:t>transcripción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automática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2184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695</Words>
  <Application>Microsoft Office PowerPoint</Application>
  <PresentationFormat>Widescreen</PresentationFormat>
  <Paragraphs>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Claves para saber si tu negocio se puede beneficiar de la inteligencia artificial</vt:lpstr>
      <vt:lpstr>Procesamiento de Datos  Pregunta: ¿Tu negocio genera o maneja grandes volúmenes de datos?  Clave: La IA puede analizar grandes volúmenes de datos para identificar patrones y tendencias que podrían pasar desapercibidos, optimizando la toma de decisiones.</vt:lpstr>
      <vt:lpstr>Automatización de Procesos  Pregunta: ¿Existen tareas repetitivas y rutinarias en tu negocio?  Clave: La IA puede automatizar procesos repetitivos, reduciendo errores y permitiendo que los empleados se enfoquen en tareas de mayor valor añadido.</vt:lpstr>
      <vt:lpstr>Personalización de Servicios  Pregunta: ¿Tu negocio se beneficia de ofrecer experiencias personalizadas a los clientes?  Clave: La IA puede analizar el comportamiento de los clientes y personalizar sus experiencias, aumentando su satisfacción y lealtad.</vt:lpstr>
      <vt:lpstr>Mejora del Servicio al Cliente  Pregunta: ¿Tu negocio recibe una gran cantidad de consultas y solicitudes de servicio al cliente?  Clave: Los chatbots y asistentes virtuales impulsados por IA pueden manejar consultas comunes y proporcionar soporte 24/7, mejorando la eficiencia del servicio al cliente.</vt:lpstr>
      <vt:lpstr>Optimización de la Cadena de Suministro  Pregunta: ¿Tu negocio depende de una cadena de suministro compleja?  Clave: La IA puede optimizar la gestión de inventarios, prever la demanda y mejorar la logística, reduciendo costos y mejorando la eficiencia.</vt:lpstr>
      <vt:lpstr>Análisis Predictivo  Pregunta: ¿Tu negocio se beneficiaría de prever tendencias y comportamientos futuros?  Clave: La IA puede utilizar análisis predictivo para anticipar tendencias del mercado y comportamientos del cliente, ayudando a planificar estrategias efectivas.</vt:lpstr>
      <vt:lpstr>Seguridad y Detección de Fraude  Pregunta: ¿La seguridad y la prevención de fraude son críticas para tu negocio?  Clave: La IA puede detectar patrones anómalos y posibles fraudes en tiempo real, mejorando la seguridad y protegiendo los activos del negocio.</vt:lpstr>
      <vt:lpstr>Optimización de Marketing  Pregunta: ¿Tu negocio invierte en campañas de marketing digital?  Clave: La IA puede optimizar campañas de marketing mediante el análisis de datos de comportamiento del consumidor, mejorando la segmentación y el retorno de la inversión.</vt:lpstr>
      <vt:lpstr>Innovación y Desarrollo de Productos  Pregunta: ¿Tu negocio está en una industria altamente competitiva donde la innovación es clave?  Clave: La IA puede acelerar el desarrollo de productos mediante el análisis de datos de investigación y desarrollo, y la identificación de oportunidades de innovación.</vt:lpstr>
      <vt:lpstr>Mejora en la Toma de Decisiones  Pregunta: ¿Tu negocio se enfrenta a decisiones complejas con múltiples variables?  Clave: La IA puede proporcionar análisis detallados y recomendaciones basadas en datos, apoyando a los líderes en la toma de decisiones informadas.</vt:lpstr>
      <vt:lpstr>Presión competitiva  Pregunta: ¿Tus competidores están usando la IA?  Clave: Si tus competidores están utilizando la IA para mejorar sus negocios, es probable que necesites considerar la IA para mantenerte competitivo.</vt:lpstr>
      <vt:lpstr>Cumplimiento Normativo  Pregunta: ¿Necesitas cumplir con regulaciones y normas específicas de tu industria?  Clave: La IA puede ayudar a automatizar el proceso de monitoreo y reporte de cumplimiento normativo, reduciendo el tiempo y el esfuerzo manual requerido y reducir el riesgo de incumplimiento normativo al proporcionar alertas tempranas y recomendaciones para corregir posibles problemas.</vt:lpstr>
      <vt:lpstr>Gestión del Talento  Pregunta: ¿Tienes que seleccionar personal altamente calificado de forma rápida y precisa?  Clave: La IA puede optimizar la selección de personal, analizar el rendimiento de los empleados y mejorar la gestión de recursos humanos.</vt:lpstr>
      <vt:lpstr>Generación Automática de Materiales Audiovisuales  Pregunta: ¿Trabajas con imágenes, voz o texto?  Clave: Si tu empresa maneja documentos, videos o audios, la IA puede ayudarte con reconocimiento de imágenes, análisis de textos y transcripción automática.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Raúl Valente Ramírez Velarde</dc:creator>
  <cp:lastModifiedBy>Raúl Valente Ramírez Velarde</cp:lastModifiedBy>
  <cp:revision>6</cp:revision>
  <dcterms:created xsi:type="dcterms:W3CDTF">2025-02-08T03:31:50Z</dcterms:created>
  <dcterms:modified xsi:type="dcterms:W3CDTF">2025-02-08T04:18:35Z</dcterms:modified>
</cp:coreProperties>
</file>