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" pitchFamily="2" charset="0"/>
      <p:regular r:id="rId13"/>
    </p:embeddedFont>
    <p:embeddedFont>
      <p:font typeface="DM Sans Semi Bold" panose="020B0604020202020204" charset="0"/>
      <p:regular r:id="rId14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2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88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4777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Using Large Language Models in Engineering Design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933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rigorous, five-step methodology for integrating LLMs into engineering coursework — treating AI as a hypothesis generator that must be validated, not an authoritative solver.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629248"/>
            <a:ext cx="2604641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81174" y="3671739"/>
            <a:ext cx="24345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ENGINEERING DESIGN · LLMS · METHODOLOGY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464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Core Principle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590229"/>
            <a:ext cx="4531965" cy="2618631"/>
          </a:xfrm>
          <a:prstGeom prst="roundRect">
            <a:avLst>
              <a:gd name="adj" fmla="val 7796"/>
            </a:avLst>
          </a:prstGeom>
          <a:solidFill>
            <a:srgbClr val="FFC7C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35781" y="1731987"/>
            <a:ext cx="27999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LLMs Are Hypothesis Generators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95202"/>
            <a:ext cx="42484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language models can accelerate design exploration — but they are not authoritative solvers. Every output must be treated as a hypothesis that requires independent validation before it can be trusted.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74531" y="1731987"/>
            <a:ext cx="18063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Wrong Approach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74531" y="2095202"/>
            <a:ext cx="3478039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a vague question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 the first answer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results without checking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74531" y="30165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Right Approach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74531" y="3379738"/>
            <a:ext cx="3478039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Formalise the problem first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against known solutions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Iterate, then explore new designs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17687"/>
            <a:ext cx="502295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FFC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85936" y="1064940"/>
            <a:ext cx="32265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50318"/>
            <a:ext cx="38218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Formalisation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0590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writing a single prompt, define the engineering problem with precision. This prevents the most common failure: asking vague questions and receiving unreliable answers.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619003"/>
            <a:ext cx="2622724" cy="1506810"/>
          </a:xfrm>
          <a:prstGeom prst="roundRect">
            <a:avLst>
              <a:gd name="adj" fmla="val 846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2640" y="27655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Inputs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3072036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Constraints, materials, loads, boundary conditions, and environmental factors that define the problem space.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619003"/>
            <a:ext cx="2622724" cy="1506810"/>
          </a:xfrm>
          <a:prstGeom prst="roundRect">
            <a:avLst>
              <a:gd name="adj" fmla="val 846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07122" y="27655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Outputs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7122" y="3072036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dimensions, performance metrics, safety factors, and design specifications to be determined.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619003"/>
            <a:ext cx="2622724" cy="1506810"/>
          </a:xfrm>
          <a:prstGeom prst="roundRect">
            <a:avLst>
              <a:gd name="adj" fmla="val 846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71605" y="27655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Governing Principles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1605" y="3072036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Relevant physics, engineering standards, and governing equations that constrain and guide the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74972"/>
            <a:ext cx="483319" cy="243185"/>
          </a:xfrm>
          <a:prstGeom prst="roundRect">
            <a:avLst>
              <a:gd name="adj" fmla="val 38038"/>
            </a:avLst>
          </a:prstGeom>
          <a:noFill/>
          <a:ln w="4763">
            <a:solidFill>
              <a:srgbClr val="FFC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31391" y="418207"/>
            <a:ext cx="319757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64666"/>
            <a:ext cx="516031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Selection &amp; Prompt Design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10" y="1814885"/>
            <a:ext cx="3965674" cy="2379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3479" y="135708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Choosing Your Tool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33479" y="1674168"/>
            <a:ext cx="396567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the appropriate LLM — a general-purpose GPT-type model or a domain-specific engineering tool — based on problem complexity and required accuracy.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33479" y="2378348"/>
            <a:ext cx="217921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Designing Effective Prompts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33479" y="2695426"/>
            <a:ext cx="3965674" cy="110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Zero-shot</a:t>
            </a: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</a:t>
            </a:r>
            <a:r>
              <a:rPr lang="en-US" sz="10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few-shot</a:t>
            </a: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provide worked examples when the task is complex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Force the model to </a:t>
            </a:r>
            <a:r>
              <a:rPr lang="en-US" sz="10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assumptions</a:t>
            </a: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explicitly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 </a:t>
            </a:r>
            <a:r>
              <a:rPr lang="en-US" sz="10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equations and units</a:t>
            </a: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every response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Enforce </a:t>
            </a:r>
            <a:r>
              <a:rPr lang="en-US" sz="10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step-by-step reasoning</a:t>
            </a: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before conclusions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3479" y="3928170"/>
            <a:ext cx="3965674" cy="709315"/>
          </a:xfrm>
          <a:prstGeom prst="roundRect">
            <a:avLst>
              <a:gd name="adj" fmla="val 16302"/>
            </a:avLst>
          </a:prstGeom>
          <a:solidFill>
            <a:srgbClr val="FFB3B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917" y="4119116"/>
            <a:ext cx="160586" cy="1284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0941" y="4076626"/>
            <a:ext cx="341977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 design is equivalent to choosing a numerical method in classical engineering.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8654" y="443359"/>
            <a:ext cx="451917" cy="222349"/>
          </a:xfrm>
          <a:prstGeom prst="roundRect">
            <a:avLst>
              <a:gd name="adj" fmla="val 38734"/>
            </a:avLst>
          </a:prstGeom>
          <a:noFill/>
          <a:ln w="4763">
            <a:solidFill>
              <a:srgbClr val="FFC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495151" y="483989"/>
            <a:ext cx="29892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3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18654" y="706041"/>
            <a:ext cx="487769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Benchmarking Against Known Solutions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418654" y="1604962"/>
            <a:ext cx="4877693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most critical step. Test the LLM on a problem with a known, verified solution before trusting it with new designs. This transforms LLM use from guesswork into a scientific experiment.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8654" y="2247528"/>
            <a:ext cx="4877693" cy="691455"/>
          </a:xfrm>
          <a:prstGeom prst="roundRect">
            <a:avLst>
              <a:gd name="adj" fmla="val 9918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dist="1524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66" y="2247528"/>
            <a:ext cx="57150" cy="6914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387" y="238139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Numerical Accuracy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95387" y="2628751"/>
            <a:ext cx="456708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Quantify the percentage error between the LLM's output and the known solution.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18654" y="3039889"/>
            <a:ext cx="4877693" cy="691455"/>
          </a:xfrm>
          <a:prstGeom prst="roundRect">
            <a:avLst>
              <a:gd name="adj" fmla="val 9918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dist="1524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66" y="3039889"/>
            <a:ext cx="57150" cy="6914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5387" y="3173760"/>
            <a:ext cx="187516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Methodology Correctness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95387" y="3421112"/>
            <a:ext cx="456708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whether the reasoning path and equations used are physically sound.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18654" y="3832250"/>
            <a:ext cx="4877693" cy="867817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dist="1524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66" y="3832250"/>
            <a:ext cx="57150" cy="8678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5387" y="3966121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Constraints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95387" y="4213473"/>
            <a:ext cx="456708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any assumptions or boundary conditions the model overlooked or hallucinated.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34194"/>
            <a:ext cx="445443" cy="217215"/>
          </a:xfrm>
          <a:prstGeom prst="roundRect">
            <a:avLst>
              <a:gd name="adj" fmla="val 38915"/>
            </a:avLst>
          </a:prstGeom>
          <a:noFill/>
          <a:ln w="4763">
            <a:solidFill>
              <a:srgbClr val="FFC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6801" y="374154"/>
            <a:ext cx="295126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590252"/>
            <a:ext cx="4813771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Error Analysis &amp; Model Calibration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43" y="1212205"/>
            <a:ext cx="3487787" cy="348778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43" y="1212205"/>
            <a:ext cx="3487787" cy="34877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00538" y="2254597"/>
            <a:ext cx="194883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Diagnose Before You Iterate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300538" y="2535213"/>
            <a:ext cx="4326434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all errors are equal. A conceptual error — using the wrong governing equation — is far more serious than a rounding mistake. Identify the failure type before refining your prompt.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300538" y="3137669"/>
            <a:ext cx="4326434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constraints?</a:t>
            </a: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Add them explicitly to the prompt.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Wrong formulas?</a:t>
            </a: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Provide the correct equation as a reference.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Hallucinated standards?</a:t>
            </a: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Specify the applicable code or standard.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3156"/>
            <a:ext cx="536079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FFC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85936" y="770409"/>
            <a:ext cx="3564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55787"/>
            <a:ext cx="50832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Controlled Design Exploration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1137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after validation should students modify parameters to explore new designs. This is where LLMs become genuinely powerful — enabling rapid iteration and sensitivity analysis at scale.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119" y="2324472"/>
            <a:ext cx="1507480" cy="9316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4333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Geometry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73982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Vary dimensions, profiles, and structural shapes to explore the design space systematically.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2433" y="2324472"/>
            <a:ext cx="1507480" cy="9316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72433" y="34333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Materials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272433" y="373982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Swap materials and evaluate how properties affect performance, weight, and cost.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8747" y="2324472"/>
            <a:ext cx="1507480" cy="9316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48747" y="3433316"/>
            <a:ext cx="17994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Boundary Conditions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373982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Modify loads, supports, and constraints to test robustness under different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67480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Five-Step Methodology at a Glance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5230" y="1907418"/>
            <a:ext cx="404650" cy="4046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2209" y="3275494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Design Exploration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3832" y="1908177"/>
            <a:ext cx="404650" cy="4046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Error Analysis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2813" y="1908177"/>
            <a:ext cx="404650" cy="4046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10540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Benchmark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01794" y="1908177"/>
            <a:ext cx="404650" cy="4046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518781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&amp; Prompt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2683" y="1908177"/>
            <a:ext cx="404650" cy="4046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94415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Formalise Problem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step builds on the last. Skipping benchmarking or error analysis invalidates the entire process — the methodology only works when followed in sequence.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95436"/>
            <a:ext cx="492107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Group Exercise: Evaluation Rubric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26393" y="985465"/>
            <a:ext cx="8291215" cy="3762524"/>
          </a:xfrm>
          <a:prstGeom prst="roundRect">
            <a:avLst>
              <a:gd name="adj" fmla="val 291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31155" y="990228"/>
            <a:ext cx="8281690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53194" y="1057796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Criterion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874392" y="1057796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Met (0%)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65054" y="1057796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Developing (50%)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5717" y="1057796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Progress (80%)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46379" y="1057796"/>
            <a:ext cx="124465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Outstanding (100%)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155" y="1306562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53194" y="1374130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Formalisation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74392" y="1374130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65054" y="1374130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5717" y="1374130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omissions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46379" y="1374130"/>
            <a:ext cx="124465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with equations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155" y="1804095"/>
            <a:ext cx="8281690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53194" y="1871663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Use &amp; Prompts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74392" y="1871663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Incorrect use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65054" y="1871663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use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5717" y="1871663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Partially structured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46379" y="1871663"/>
            <a:ext cx="124465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and clear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1155" y="2120429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53194" y="2187997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(Known Solution)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74392" y="2187997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validated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65054" y="2187997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validation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5717" y="2187997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 comparison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46379" y="2187997"/>
            <a:ext cx="124465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with error quantified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1155" y="2617961"/>
            <a:ext cx="8281690" cy="49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53194" y="2685529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 Analysis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74392" y="2685529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65054" y="2685529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Superficial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55717" y="2685529"/>
            <a:ext cx="124226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 errors identified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46379" y="2685529"/>
            <a:ext cx="124465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diagnosis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1155" y="3115494"/>
            <a:ext cx="8281690" cy="316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53194" y="3183062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Iteration &amp; Improvement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74392" y="3183062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65054" y="3183062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5717" y="3183062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 improvement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46379" y="3183062"/>
            <a:ext cx="124465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and effective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1155" y="3431828"/>
            <a:ext cx="8281690" cy="49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53194" y="3499396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Exploration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874392" y="3499396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65054" y="3499396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 changes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55717" y="3499396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 exploration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46379" y="3499396"/>
            <a:ext cx="124465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and justified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1155" y="3929360"/>
            <a:ext cx="8281690" cy="3163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53194" y="3996928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Design Validation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74392" y="3996928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validated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365054" y="3996928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55717" y="3996928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46379" y="3996928"/>
            <a:ext cx="124465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Solid independent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1155" y="4245694"/>
            <a:ext cx="8281690" cy="49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553194" y="4313262"/>
            <a:ext cx="20728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Technical Communication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874392" y="4313262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Confusing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365054" y="4313262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Unclear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55717" y="4313262"/>
            <a:ext cx="12422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Acceptable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46379" y="4313262"/>
            <a:ext cx="124465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and professional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520005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894162" y="1122164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dist="165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943983" y="1147093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317727" y="1167780"/>
            <a:ext cx="245402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Formalise first, prompt second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17727" y="1450181"/>
            <a:ext cx="4361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well-defined problem is the foundation of every reliable LLM output.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94162" y="1905298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dist="165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943983" y="1930226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317727" y="1950913"/>
            <a:ext cx="324862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Always validate against a known solution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17727" y="2233315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Benchmarking transforms LLM use from guesswork into a scientific method.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94162" y="2894409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dist="165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943983" y="2919338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317727" y="2940025"/>
            <a:ext cx="244941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Treat errors as diagnostic data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17727" y="3222427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 analysis and prompt refinement are not failures — they are calibration.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94162" y="3883521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dist="1651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943983" y="3908450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317727" y="3929137"/>
            <a:ext cx="223413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Explore only after validation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317727" y="4211538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Validated prompts unlock rapid, confident design iteration and sensitivity analysis.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756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DM Sans</vt:lpstr>
      <vt:lpstr>Arial</vt:lpstr>
      <vt:lpstr>DM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Raul Ramirez</cp:lastModifiedBy>
  <cp:revision>2</cp:revision>
  <dcterms:created xsi:type="dcterms:W3CDTF">2026-05-04T22:53:09Z</dcterms:created>
  <dcterms:modified xsi:type="dcterms:W3CDTF">2026-09-18T00:39:00Z</dcterms:modified>
</cp:coreProperties>
</file>